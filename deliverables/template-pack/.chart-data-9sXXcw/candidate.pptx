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d2b2eab25374fe1" /><Relationship Type="http://schemas.openxmlformats.org/officeDocument/2006/relationships/extended-properties" Target="/docProps/app.xml" Id="Rd7297dea3c8e4ce7" /><Relationship Type="http://schemas.openxmlformats.org/officeDocument/2006/relationships/officeDocument" Target="/ppt/presentation.xml" Id="R4ae7577ffe864f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7505df8b134936"/>
  </p:sldMasterIdLst>
  <p:notesMasterIdLst>
    <p:notesMasterId xmlns:r="http://schemas.openxmlformats.org/officeDocument/2006/relationships" r:id="Rf6c25c10e0c64eba"/>
  </p:notesMasterIdLst>
  <p:sldIdLst>
    <p:sldId xmlns:r="http://schemas.openxmlformats.org/officeDocument/2006/relationships" id="256" r:id="R6c4986c384844652"/>
    <p:sldId xmlns:r="http://schemas.openxmlformats.org/officeDocument/2006/relationships" id="257" r:id="R0ee32963240043e0"/>
    <p:sldId xmlns:r="http://schemas.openxmlformats.org/officeDocument/2006/relationships" id="258" r:id="Racd52ecb096042d7"/>
    <p:sldId xmlns:r="http://schemas.openxmlformats.org/officeDocument/2006/relationships" id="259" r:id="R2bc6ed25e439418b"/>
    <p:sldId xmlns:r="http://schemas.openxmlformats.org/officeDocument/2006/relationships" id="260" r:id="R04ee2ab4158a4a62"/>
    <p:sldId xmlns:r="http://schemas.openxmlformats.org/officeDocument/2006/relationships" id="261" r:id="R132533acd6cf487c"/>
    <p:sldId xmlns:r="http://schemas.openxmlformats.org/officeDocument/2006/relationships" id="262" r:id="Rdc1ce661027e4b97"/>
    <p:sldId xmlns:r="http://schemas.openxmlformats.org/officeDocument/2006/relationships" id="263" r:id="R02f2877a8f604469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897381310f67437d" /><Relationship Type="http://schemas.openxmlformats.org/officeDocument/2006/relationships/slideMaster" Target="/ppt/slideMasters/slideMaster1.xml" Id="Rcc7505df8b134936" /><Relationship Type="http://schemas.openxmlformats.org/officeDocument/2006/relationships/notesMaster" Target="/ppt/notesMasters/notesMaster1.xml" Id="Rf6c25c10e0c64eba" /><Relationship Type="http://schemas.openxmlformats.org/officeDocument/2006/relationships/presProps" Target="/ppt/presProps.xml" Id="Raf203a28d7004ed8" /><Relationship Type="http://schemas.openxmlformats.org/officeDocument/2006/relationships/tableStyles" Target="/ppt/tableStyles.xml" Id="R7d33afac023d497a" /><Relationship Type="http://schemas.openxmlformats.org/officeDocument/2006/relationships/slide" Target="/ppt/slides/slide1.xml" Id="R6c4986c384844652" /><Relationship Type="http://schemas.openxmlformats.org/officeDocument/2006/relationships/slide" Target="/ppt/slides/slide2.xml" Id="R0ee32963240043e0" /><Relationship Type="http://schemas.openxmlformats.org/officeDocument/2006/relationships/slide" Target="/ppt/slides/slide3.xml" Id="Racd52ecb096042d7" /><Relationship Type="http://schemas.openxmlformats.org/officeDocument/2006/relationships/slide" Target="/ppt/slides/slide4.xml" Id="R2bc6ed25e439418b" /><Relationship Type="http://schemas.openxmlformats.org/officeDocument/2006/relationships/slide" Target="/ppt/slides/slide5.xml" Id="R04ee2ab4158a4a62" /><Relationship Type="http://schemas.openxmlformats.org/officeDocument/2006/relationships/slide" Target="/ppt/slides/slide6.xml" Id="R132533acd6cf487c" /><Relationship Type="http://schemas.openxmlformats.org/officeDocument/2006/relationships/slide" Target="/ppt/slides/slide7.xml" Id="Rdc1ce661027e4b97" /><Relationship Type="http://schemas.openxmlformats.org/officeDocument/2006/relationships/slide" Target="/ppt/slides/slide8.xml" Id="R02f2877a8f60446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e425dc0cd2b4ee6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be40ad7bc5b4de2" /><Relationship Type="http://schemas.openxmlformats.org/officeDocument/2006/relationships/notesMaster" Target="/ppt/notesMasters/notesMaster1.xml" Id="R42fd15e963d142e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8cb0bdf32324e50" /><Relationship Type="http://schemas.openxmlformats.org/officeDocument/2006/relationships/notesMaster" Target="/ppt/notesMasters/notesMaster1.xml" Id="R072b14d1804242e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bd79e5e7c1b48c4" /><Relationship Type="http://schemas.openxmlformats.org/officeDocument/2006/relationships/notesMaster" Target="/ppt/notesMasters/notesMaster1.xml" Id="R0fc38bc1da4b46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148acab37a864e94" /><Relationship Type="http://schemas.openxmlformats.org/officeDocument/2006/relationships/notesMaster" Target="/ppt/notesMasters/notesMaster1.xml" Id="Rcd0172993f5f4fe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cc85b13ce254c74" /><Relationship Type="http://schemas.openxmlformats.org/officeDocument/2006/relationships/notesMaster" Target="/ppt/notesMasters/notesMaster1.xml" Id="R5d7ccae86d2348f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96e501d2bcb4e0c" /><Relationship Type="http://schemas.openxmlformats.org/officeDocument/2006/relationships/notesMaster" Target="/ppt/notesMasters/notesMaster1.xml" Id="Rd99bb6d3625041c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ae5e8de18ef34a7d" /><Relationship Type="http://schemas.openxmlformats.org/officeDocument/2006/relationships/notesMaster" Target="/ppt/notesMasters/notesMaster1.xml" Id="Rf9a0ec65585f49e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5ee313ad282467c" /><Relationship Type="http://schemas.openxmlformats.org/officeDocument/2006/relationships/notesMaster" Target="/ppt/notesMasters/notesMaster1.xml" Id="R633973af470b4a9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本页数值仅为展示原生图表布局的示例，不代表真实业务结果。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6f08536bdc34cc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2716c545494434f" /><Relationship Type="http://schemas.openxmlformats.org/officeDocument/2006/relationships/slideLayout" Target="/ppt/slideLayouts/slideLayout1.xml" Id="R2342c0dbc177485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2342c0dbc177485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3a98cd32c490e" /><Relationship Type="http://schemas.openxmlformats.org/officeDocument/2006/relationships/notesSlide" Target="/ppt/notesSlides/notesSlide1.xml" Id="R0babab05efe54e7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877dc326a44c57" /><Relationship Type="http://schemas.openxmlformats.org/officeDocument/2006/relationships/notesSlide" Target="/ppt/notesSlides/notesSlide2.xml" Id="R72fdb0f351a8491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42cb9678ee447f8" /><Relationship Type="http://schemas.openxmlformats.org/officeDocument/2006/relationships/notesSlide" Target="/ppt/notesSlides/notesSlide3.xml" Id="R21a98640e7204dd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62b22c12904e74" /><Relationship Type="http://schemas.openxmlformats.org/officeDocument/2006/relationships/notesSlide" Target="/ppt/notesSlides/notesSlide4.xml" Id="Ra42bc307dd89480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6667957b10479b" /><Relationship Type="http://schemas.openxmlformats.org/officeDocument/2006/relationships/chart" Target="/ppt/slides/charts/chart1.xml" Id="R9f8a6fba631b43de" /><Relationship Type="http://schemas.openxmlformats.org/officeDocument/2006/relationships/notesSlide" Target="/ppt/notesSlides/notesSlide5.xml" Id="Re18b12dfddea4ce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d81a54ec2e4a93" /><Relationship Type="http://schemas.openxmlformats.org/officeDocument/2006/relationships/notesSlide" Target="/ppt/notesSlides/notesSlide6.xml" Id="Re8206a7aa5164a88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87442d94344fb8" /><Relationship Type="http://schemas.openxmlformats.org/officeDocument/2006/relationships/notesSlide" Target="/ppt/notesSlides/notesSlide7.xml" Id="Rb9fe7726a9944e3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8fd5f915cc41d1" /><Relationship Type="http://schemas.openxmlformats.org/officeDocument/2006/relationships/notesSlide" Target="/ppt/notesSlides/notesSlide8.xml" Id="Ra5d3ff1358dd48c2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lineChart>
        <c:grouping val="standard"/>
        <c:ser>
          <c:idx val="0"/>
          <c:order val="0"/>
          <c:tx>
            <c:v>示例指标</c:v>
          </c:tx>
          <c:spPr>
            <a:solidFill xmlns:a="http://schemas.openxmlformats.org/drawingml/2006/main">
              <a:srgbClr val="287BC1"/>
            </a:solidFill>
            <a:ln xmlns:a="http://schemas.openxmlformats.org/drawingml/2006/main" w="28575">
              <a:solidFill>
                <a:srgbClr val="287BC1"/>
              </a:solidFill>
            </a:ln>
          </c:spPr>
          <c:marker>
            <c:symbol val="circle"/>
            <c:size val="7"/>
            <c:spPr>
              <a:solidFill xmlns:a="http://schemas.openxmlformats.org/drawingml/2006/main">
                <a:srgbClr val="287BC1"/>
              </a:solidFill>
            </c:spPr>
          </c:marker>
          <c:cat>
            <c:strRef>
              <c:f>'Chart Data'!$A$2:$A$5</c:f>
              <c:strCache>
                <c:ptCount val="4"/>
                <c:pt idx="0">
                  <c:v>第一期</c:v>
                </c:pt>
                <c:pt idx="1">
                  <c:v>第二期</c:v>
                </c:pt>
                <c:pt idx="2">
                  <c:v>第三期</c:v>
                </c:pt>
                <c:pt idx="3">
                  <c:v>第四期</c:v>
                </c:pt>
              </c:strCache>
            </c:strRef>
          </c:cat>
          <c:val>
            <c:numRef>
              <c:f>'Chart Data'!$B$2:$B$5</c:f>
              <c:numCache>
                <c:formatCode>0</c:formatCode>
                <c:ptCount val="4"/>
                <c:pt idx="0">
                  <c:v>45</c:v>
                </c:pt>
                <c:pt idx="1">
                  <c:v>58</c:v>
                </c:pt>
                <c:pt idx="2">
                  <c:v>52</c:v>
                </c:pt>
                <c:pt idx="3">
                  <c:v>70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350">
                  <a:solidFill>
                    <a:srgbClr val="142C49"/>
                  </a:solidFill>
                  <a:latin typeface="Microsoft YaHei"/>
                  <a:ea typeface="Microsoft YaHei"/>
                  <a:cs typeface="Microsoft YaHe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line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l"/>
        <c:numFmt formatCode="0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</c:spPr>
    </c:plotArea>
    <c:plotVisOnly val="1"/>
  </c:chart>
  <c:spPr>
    <a:solidFill xmlns:a="http://schemas.openxmlformats.org/drawingml/2006/main">
      <a:srgbClr val="FFFFFF"/>
    </a:solidFill>
  </c:spPr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AE18849-EA33-4BE4-8A3E-7E63BE721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4572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英文分类">
            <a:extLst xmlns:a="http://schemas.openxmlformats.org/drawingml/2006/main">
              <a:ext uri="{FF2B5EF4-FFF2-40B4-BE49-F238E27FC236}">
                <a16:creationId xmlns:a16="http://schemas.microsoft.com/office/drawing/2014/main" id="{3124EEE4-E8D0-4148-88D0-536983824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9906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BUSINESS REVIEW</a:t>
            </a:r>
          </a:p>
        </p:txBody>
      </p:sp>
      <p:sp>
        <p:nvSpPr>
          <p:cNvPr id="3" name="主标题">
            <a:extLst xmlns:a="http://schemas.openxmlformats.org/drawingml/2006/main">
              <a:ext uri="{FF2B5EF4-FFF2-40B4-BE49-F238E27FC236}">
                <a16:creationId xmlns:a16="http://schemas.microsoft.com/office/drawing/2014/main" id="{3116DE42-5ABC-477B-8723-B75E861EB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03822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57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经营分析汇报</a:t>
            </a:r>
          </a:p>
        </p:txBody>
      </p:sp>
      <p:sp>
        <p:nvSpPr>
          <p:cNvPr id="4" name="副标题">
            <a:extLst xmlns:a="http://schemas.openxmlformats.org/drawingml/2006/main">
              <a:ext uri="{FF2B5EF4-FFF2-40B4-BE49-F238E27FC236}">
                <a16:creationId xmlns:a16="http://schemas.microsoft.com/office/drawing/2014/main" id="{92E0C761-1B00-409C-9B41-9092979EB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048125"/>
            <a:ext cx="9525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汇报周期 / 业务范围 / 负责人</a:t>
            </a:r>
          </a:p>
        </p:txBody>
      </p:sp>
      <p:sp>
        <p:nvSpPr>
          <p:cNvPr id="5" name="日期">
            <a:extLst xmlns:a="http://schemas.openxmlformats.org/drawingml/2006/main">
              <a:ext uri="{FF2B5EF4-FFF2-40B4-BE49-F238E27FC236}">
                <a16:creationId xmlns:a16="http://schemas.microsoft.com/office/drawing/2014/main" id="{4B61DAFB-CF8C-4B26-9A55-5A0B7A24E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48350"/>
            <a:ext cx="762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汇报日期：YYYY.MM.DD</a:t>
            </a:r>
          </a:p>
        </p:txBody>
      </p:sp>
      <p:sp>
        <p:nvSpPr>
          <p:cNvPr id="6" name="模板编号">
            <a:extLst xmlns:a="http://schemas.openxmlformats.org/drawingml/2006/main">
              <a:ext uri="{FF2B5EF4-FFF2-40B4-BE49-F238E27FC236}">
                <a16:creationId xmlns:a16="http://schemas.microsoft.com/office/drawing/2014/main" id="{75919ECB-5627-4A26-A047-81895534D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584835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TEMPLATE 01</a:t>
            </a:r>
          </a:p>
        </p:txBody>
      </p:sp>
    </p:spTree>
    <p:extLst>
      <p:ext uri="{BB962C8B-B14F-4D97-AF65-F5344CB8AC3E}">
        <p14:creationId xmlns:p14="http://schemas.microsoft.com/office/powerpoint/2010/main" val="208274042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2CBD6925-42B7-45EB-9FB5-09B096D5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041F4D2A-D66A-4834-A817-D1804C58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02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68C9029B-5F3E-4C8D-8B31-F205096A99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内容目录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70EE12D4-948A-41EC-B8DD-F8E27E0DC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62B4C76B-28BA-4179-884C-C748B2625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BB8F2E8-6276-44BF-9541-06B3B4FE2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目录页</a:t>
            </a:r>
          </a:p>
        </p:txBody>
      </p:sp>
      <p:sp>
        <p:nvSpPr>
          <p:cNvPr id="7" name="章节序号_0">
            <a:extLst xmlns:a="http://schemas.openxmlformats.org/drawingml/2006/main">
              <a:ext uri="{FF2B5EF4-FFF2-40B4-BE49-F238E27FC236}">
                <a16:creationId xmlns:a16="http://schemas.microsoft.com/office/drawing/2014/main" id="{3A92FF79-9CBE-4CED-BC83-D8A70C9D58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5740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8" name="章节标题_0">
            <a:extLst xmlns:a="http://schemas.openxmlformats.org/drawingml/2006/main">
              <a:ext uri="{FF2B5EF4-FFF2-40B4-BE49-F238E27FC236}">
                <a16:creationId xmlns:a16="http://schemas.microsoft.com/office/drawing/2014/main" id="{0C1B23D2-082E-49EA-8DD8-5E49A175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07645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经营概览</a:t>
            </a:r>
          </a:p>
        </p:txBody>
      </p:sp>
      <p:sp>
        <p:nvSpPr>
          <p:cNvPr id="9" name="分隔线">
            <a:extLst xmlns:a="http://schemas.openxmlformats.org/drawingml/2006/main">
              <a:ext uri="{FF2B5EF4-FFF2-40B4-BE49-F238E27FC236}">
                <a16:creationId xmlns:a16="http://schemas.microsoft.com/office/drawing/2014/main" id="{C66DE348-FC33-406F-95A4-0CA354BB3F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281940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0" name="章节序号_1">
            <a:extLst xmlns:a="http://schemas.openxmlformats.org/drawingml/2006/main">
              <a:ext uri="{FF2B5EF4-FFF2-40B4-BE49-F238E27FC236}">
                <a16:creationId xmlns:a16="http://schemas.microsoft.com/office/drawing/2014/main" id="{F1B85224-0C51-42CF-AB5A-14B547D2E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1942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1" name="章节标题_1">
            <a:extLst xmlns:a="http://schemas.openxmlformats.org/drawingml/2006/main">
              <a:ext uri="{FF2B5EF4-FFF2-40B4-BE49-F238E27FC236}">
                <a16:creationId xmlns:a16="http://schemas.microsoft.com/office/drawing/2014/main" id="{7C807CC7-A1F7-4686-BFA4-79DF8A8CB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03847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</a:t>
            </a:r>
          </a:p>
        </p:txBody>
      </p:sp>
      <p:sp>
        <p:nvSpPr>
          <p:cNvPr id="12" name="分隔线">
            <a:extLst xmlns:a="http://schemas.openxmlformats.org/drawingml/2006/main">
              <a:ext uri="{FF2B5EF4-FFF2-40B4-BE49-F238E27FC236}">
                <a16:creationId xmlns:a16="http://schemas.microsoft.com/office/drawing/2014/main" id="{07B11EA1-1B22-4178-BF9B-415DDC8E0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781425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3" name="章节序号_2">
            <a:extLst xmlns:a="http://schemas.openxmlformats.org/drawingml/2006/main">
              <a:ext uri="{FF2B5EF4-FFF2-40B4-BE49-F238E27FC236}">
                <a16:creationId xmlns:a16="http://schemas.microsoft.com/office/drawing/2014/main" id="{8207F6F4-4F88-4C64-B7EA-5E4DD865A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81450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章节标题_2">
            <a:extLst xmlns:a="http://schemas.openxmlformats.org/drawingml/2006/main">
              <a:ext uri="{FF2B5EF4-FFF2-40B4-BE49-F238E27FC236}">
                <a16:creationId xmlns:a16="http://schemas.microsoft.com/office/drawing/2014/main" id="{2514D467-23B6-40F8-B5B7-5C14D9232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000500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业务分析</a:t>
            </a:r>
          </a:p>
        </p:txBody>
      </p:sp>
      <p:sp>
        <p:nvSpPr>
          <p:cNvPr id="15" name="分隔线">
            <a:extLst xmlns:a="http://schemas.openxmlformats.org/drawingml/2006/main">
              <a:ext uri="{FF2B5EF4-FFF2-40B4-BE49-F238E27FC236}">
                <a16:creationId xmlns:a16="http://schemas.microsoft.com/office/drawing/2014/main" id="{06A28338-D496-4E10-A655-F5F537BD1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743450"/>
            <a:ext cx="87630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0">
            <a:noFill/>
          </a:ln>
        </p:spPr>
      </p:sp>
      <p:sp>
        <p:nvSpPr>
          <p:cNvPr id="16" name="章节序号_3">
            <a:extLst xmlns:a="http://schemas.openxmlformats.org/drawingml/2006/main">
              <a:ext uri="{FF2B5EF4-FFF2-40B4-BE49-F238E27FC236}">
                <a16:creationId xmlns:a16="http://schemas.microsoft.com/office/drawing/2014/main" id="{BAB376BC-4B93-4604-A341-D4D0F6E5C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943475"/>
            <a:ext cx="952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0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17" name="章节标题_3">
            <a:extLst xmlns:a="http://schemas.openxmlformats.org/drawingml/2006/main">
              <a:ext uri="{FF2B5EF4-FFF2-40B4-BE49-F238E27FC236}">
                <a16:creationId xmlns:a16="http://schemas.microsoft.com/office/drawing/2014/main" id="{A7E81DB8-151D-4EA3-9560-3BD8E95A3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4962525"/>
            <a:ext cx="86201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</a:t>
            </a:r>
          </a:p>
        </p:txBody>
      </p:sp>
    </p:spTree>
    <p:extLst>
      <p:ext uri="{BB962C8B-B14F-4D97-AF65-F5344CB8AC3E}">
        <p14:creationId xmlns:p14="http://schemas.microsoft.com/office/powerpoint/2010/main" val="12880076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EDF3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章节编号">
            <a:extLst xmlns:a="http://schemas.openxmlformats.org/drawingml/2006/main">
              <a:ext uri="{FF2B5EF4-FFF2-40B4-BE49-F238E27FC236}">
                <a16:creationId xmlns:a16="http://schemas.microsoft.com/office/drawing/2014/main" id="{DC9DEBA2-B399-4E41-8D15-AB667DB2F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457200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2" name="章节标题">
            <a:extLst xmlns:a="http://schemas.openxmlformats.org/drawingml/2006/main">
              <a:ext uri="{FF2B5EF4-FFF2-40B4-BE49-F238E27FC236}">
                <a16:creationId xmlns:a16="http://schemas.microsoft.com/office/drawing/2014/main" id="{8D112C4A-9F00-4DFF-9787-A65DD42E8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00375"/>
            <a:ext cx="107442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20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经营表现与关键问题</a:t>
            </a:r>
          </a:p>
        </p:txBody>
      </p:sp>
      <p:sp>
        <p:nvSpPr>
          <p:cNvPr id="3" name="章节摘要">
            <a:extLst xmlns:a="http://schemas.openxmlformats.org/drawingml/2006/main">
              <a:ext uri="{FF2B5EF4-FFF2-40B4-BE49-F238E27FC236}">
                <a16:creationId xmlns:a16="http://schemas.microsoft.com/office/drawing/2014/main" id="{333C136A-062E-453F-9851-CF4935F90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2912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填写本章节的核心内容与讨论范围</a:t>
            </a:r>
          </a:p>
        </p:txBody>
      </p:sp>
      <p:sp>
        <p:nvSpPr>
          <p:cNvPr id="4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03888149-E0FF-42D3-9188-2D6BFE665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238875"/>
            <a:ext cx="666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 / 章节过渡页</a:t>
            </a:r>
          </a:p>
        </p:txBody>
      </p:sp>
    </p:spTree>
    <p:extLst>
      <p:ext uri="{BB962C8B-B14F-4D97-AF65-F5344CB8AC3E}">
        <p14:creationId xmlns:p14="http://schemas.microsoft.com/office/powerpoint/2010/main" val="17182461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DA618C2C-D547-4343-9D02-36725D8F4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2045865C-E591-4C6A-B7CE-7DF4E81C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04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E401FAC4-0D72-4FE2-ADA8-6AB979024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核心结论与业务判断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16DEF53B-DF9E-4788-99E6-588EFDED7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F7EBA10B-1605-4BCC-9E96-E85D9EFEAC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4FC3469F-FA4E-40EB-A671-6A070234D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双栏内容页</a:t>
            </a:r>
          </a:p>
        </p:txBody>
      </p:sp>
      <p:sp>
        <p:nvSpPr>
          <p:cNvPr id="7" name="左栏标题">
            <a:extLst xmlns:a="http://schemas.openxmlformats.org/drawingml/2006/main">
              <a:ext uri="{FF2B5EF4-FFF2-40B4-BE49-F238E27FC236}">
                <a16:creationId xmlns:a16="http://schemas.microsoft.com/office/drawing/2014/main" id="{99E710FD-F3A8-45A8-B445-0E62F3466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经营表现</a:t>
            </a:r>
          </a:p>
        </p:txBody>
      </p:sp>
      <p:sp>
        <p:nvSpPr>
          <p:cNvPr id="8" name="右栏标题">
            <a:extLst xmlns:a="http://schemas.openxmlformats.org/drawingml/2006/main">
              <a:ext uri="{FF2B5EF4-FFF2-40B4-BE49-F238E27FC236}">
                <a16:creationId xmlns:a16="http://schemas.microsoft.com/office/drawing/2014/main" id="{AE0C2306-6963-4B27-A1BC-7AC49498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057400"/>
            <a:ext cx="485775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5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改进方向</a:t>
            </a:r>
          </a:p>
        </p:txBody>
      </p:sp>
      <p:sp>
        <p:nvSpPr>
          <p:cNvPr id="9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CF16F809-57D0-4CC9-A28F-F909574F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0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C45F91E-B7F0-4238-8A6B-664988FF5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目标完成情况与主要变化</a:t>
            </a:r>
          </a:p>
        </p:txBody>
      </p:sp>
      <p:sp>
        <p:nvSpPr>
          <p:cNvPr id="11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38338D9D-3DCE-4896-B36C-F7D5CA264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2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51145C72-2CBC-471B-AB68-7943EB300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推动增长的关键业务因素</a:t>
            </a:r>
          </a:p>
        </p:txBody>
      </p:sp>
      <p:sp>
        <p:nvSpPr>
          <p:cNvPr id="13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7F8865D1-4988-4C2C-A4CD-D9D45446B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4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9C49C0F9-33AD-468F-914E-208493DC1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需要关注的异常指标</a:t>
            </a:r>
          </a:p>
        </p:txBody>
      </p:sp>
      <p:sp>
        <p:nvSpPr>
          <p:cNvPr id="15" name="要点编号_0">
            <a:extLst xmlns:a="http://schemas.openxmlformats.org/drawingml/2006/main">
              <a:ext uri="{FF2B5EF4-FFF2-40B4-BE49-F238E27FC236}">
                <a16:creationId xmlns:a16="http://schemas.microsoft.com/office/drawing/2014/main" id="{C75048A2-1DFA-4BDF-AB45-61A5BDA0C4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8575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16" name="内容要点_0">
            <a:extLst xmlns:a="http://schemas.openxmlformats.org/drawingml/2006/main">
              <a:ext uri="{FF2B5EF4-FFF2-40B4-BE49-F238E27FC236}">
                <a16:creationId xmlns:a16="http://schemas.microsoft.com/office/drawing/2014/main" id="{C8F4AB9A-D974-43AD-A5BC-DE86840BD4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28575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最优先解决的问题</a:t>
            </a:r>
          </a:p>
        </p:txBody>
      </p:sp>
      <p:sp>
        <p:nvSpPr>
          <p:cNvPr id="17" name="要点编号_1">
            <a:extLst xmlns:a="http://schemas.openxmlformats.org/drawingml/2006/main">
              <a:ext uri="{FF2B5EF4-FFF2-40B4-BE49-F238E27FC236}">
                <a16:creationId xmlns:a16="http://schemas.microsoft.com/office/drawing/2014/main" id="{D2FECA43-BC5E-48CF-B6D8-34F93FD65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82905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8" name="内容要点_1">
            <a:extLst xmlns:a="http://schemas.openxmlformats.org/drawingml/2006/main">
              <a:ext uri="{FF2B5EF4-FFF2-40B4-BE49-F238E27FC236}">
                <a16:creationId xmlns:a16="http://schemas.microsoft.com/office/drawing/2014/main" id="{3DFC891D-9663-435B-81AE-15B562484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382905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可执行的改进措施</a:t>
            </a:r>
          </a:p>
        </p:txBody>
      </p:sp>
      <p:sp>
        <p:nvSpPr>
          <p:cNvPr id="19" name="要点编号_2">
            <a:extLst xmlns:a="http://schemas.openxmlformats.org/drawingml/2006/main">
              <a:ext uri="{FF2B5EF4-FFF2-40B4-BE49-F238E27FC236}">
                <a16:creationId xmlns:a16="http://schemas.microsoft.com/office/drawing/2014/main" id="{E01C6D77-BBE1-4BFA-9621-19760E647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800600"/>
            <a:ext cx="4572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20" name="内容要点_2">
            <a:extLst xmlns:a="http://schemas.openxmlformats.org/drawingml/2006/main">
              <a:ext uri="{FF2B5EF4-FFF2-40B4-BE49-F238E27FC236}">
                <a16:creationId xmlns:a16="http://schemas.microsoft.com/office/drawing/2014/main" id="{622FFD32-D900-4ABD-9D20-1F8F1E96A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24700" y="4800600"/>
            <a:ext cx="4286250" cy="638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需要协调的资源与支持</a:t>
            </a:r>
          </a:p>
        </p:txBody>
      </p:sp>
    </p:spTree>
    <p:extLst>
      <p:ext uri="{BB962C8B-B14F-4D97-AF65-F5344CB8AC3E}">
        <p14:creationId xmlns:p14="http://schemas.microsoft.com/office/powerpoint/2010/main" val="97141514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827C43D7-FC99-4339-9E17-2E080864C2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79460EC9-03FB-45BF-A06D-619B73340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05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A75A25AB-2347-4D2F-9A77-046D562C3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关键指标趋势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6DBC161E-27C1-43D5-97B5-6A369E600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15A1E523-527C-4A29-906A-9404577E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A94CAFFE-ECEA-4751-84AA-433040DF0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原生图表页</a:t>
            </a:r>
          </a:p>
        </p:txBody>
      </p:sp>
      <p:sp>
        <p:nvSpPr>
          <p:cNvPr id="7" name="数据声明">
            <a:extLst xmlns:a="http://schemas.openxmlformats.org/drawingml/2006/main">
              <a:ext uri="{FF2B5EF4-FFF2-40B4-BE49-F238E27FC236}">
                <a16:creationId xmlns:a16="http://schemas.microsoft.com/office/drawing/2014/main" id="{22E1A952-0ADA-4688-BB92-F692A6BEB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933575"/>
            <a:ext cx="9715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示例数据，非真实业务结果；单位：示例值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609600" y="2476500"/>
          <a:ext xmlns:a="http://schemas.openxmlformats.org/drawingml/2006/main" cx="7658100" cy="333375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9f8a6fba631b43de"/>
          </a:graphicData>
        </a:graphic>
      </p:graphicFrame>
      <p:sp>
        <p:nvSpPr>
          <p:cNvPr id="9" name="结论标题">
            <a:extLst xmlns:a="http://schemas.openxmlformats.org/drawingml/2006/main">
              <a:ext uri="{FF2B5EF4-FFF2-40B4-BE49-F238E27FC236}">
                <a16:creationId xmlns:a16="http://schemas.microsoft.com/office/drawing/2014/main" id="{2169093F-9AAC-4308-8BF0-D4CE9815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2571750"/>
            <a:ext cx="27241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分析结论</a:t>
            </a:r>
          </a:p>
        </p:txBody>
      </p:sp>
      <p:sp>
        <p:nvSpPr>
          <p:cNvPr id="10" name="结论正文">
            <a:extLst xmlns:a="http://schemas.openxmlformats.org/drawingml/2006/main">
              <a:ext uri="{FF2B5EF4-FFF2-40B4-BE49-F238E27FC236}">
                <a16:creationId xmlns:a16="http://schemas.microsoft.com/office/drawing/2014/main" id="{8A4FE852-D145-4155-9C2A-3857B890A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3238500"/>
            <a:ext cx="26479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填写数据所反映的变化、原因与业务影响</a:t>
            </a:r>
          </a:p>
        </p:txBody>
      </p:sp>
      <p:sp>
        <p:nvSpPr>
          <p:cNvPr id="11" name="来源标注">
            <a:extLst xmlns:a="http://schemas.openxmlformats.org/drawingml/2006/main">
              <a:ext uri="{FF2B5EF4-FFF2-40B4-BE49-F238E27FC236}">
                <a16:creationId xmlns:a16="http://schemas.microsoft.com/office/drawing/2014/main" id="{3A4C5D74-23AF-47A8-946C-051D08F513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5438775"/>
            <a:ext cx="26479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数据来源：待填写</a:t>
            </a:r>
          </a:p>
        </p:txBody>
      </p:sp>
    </p:spTree>
    <p:extLst>
      <p:ext uri="{BB962C8B-B14F-4D97-AF65-F5344CB8AC3E}">
        <p14:creationId xmlns:p14="http://schemas.microsoft.com/office/powerpoint/2010/main" val="10321771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B62FC89C-B34D-43FB-9996-AD5362C60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9E8419F4-67B3-4E16-8CD4-8F439B856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06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1296BFF9-5798-464E-974C-4E47C4C26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行动计划与责任分工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9EE21955-C306-411A-98ED-C447C8BCB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7A9B6432-70AD-48D5-9462-FCD5E2535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BC0C5839-97D9-4B38-B2B9-26ECD93A10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原生表格页</a:t>
            </a:r>
          </a:p>
        </p:txBody>
      </p:sp>
      <p:sp>
        <p:nvSpPr>
          <p:cNvPr id="7" name="表格摘要">
            <a:extLst xmlns:a="http://schemas.openxmlformats.org/drawingml/2006/main">
              <a:ext uri="{FF2B5EF4-FFF2-40B4-BE49-F238E27FC236}">
                <a16:creationId xmlns:a16="http://schemas.microsoft.com/office/drawing/2014/main" id="{5A7EAF58-A941-4241-858E-A16AA009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108204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填写本页计划、清单或对照关系的说明</a:t>
            </a:r>
          </a:p>
        </p:txBody>
      </p:sp>
      <p:graphicFrame>
        <p:nvGraphicFramePr>
          <p:cNvPr id="17" name=""/>
          <p:cNvGraphicFramePr/>
          <p:nvPr/>
        </p:nvGraphicFramePr>
        <p:xfrm>
          <a:off xmlns:a="http://schemas.openxmlformats.org/drawingml/2006/main" x="685800" y="2781300"/>
          <a:ext xmlns:a="http://schemas.openxmlformats.org/drawingml/2006/main" cx="10820400" cy="25908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2095500"/>
                <a:gridCol w="3619500"/>
                <a:gridCol w="2095500"/>
                <a:gridCol w="3009900"/>
              </a:tblGrid>
              <a:tr h="647700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重点事项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具体行动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责任人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完成时间</a:t>
                      </a:r>
                    </a:p>
                  </a:txBody>
                  <a:tcPr marL="91440" marR="91440" marT="45720" marB="45720">
                    <a:solidFill>
                      <a:srgbClr val="142C49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事项一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事项二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FFFFFF"/>
                    </a:solidFill>
                  </a:tcPr>
                </a:tc>
              </a:tr>
              <a:tr h="647700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事项三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填写行动内容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负责人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142C49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计划日期</a:t>
                      </a:r>
                    </a:p>
                  </a:txBody>
                  <a:tcPr marL="91440" marR="91440" marT="45720" marB="45720">
                    <a:solidFill>
                      <a:srgbClr val="EDF3F8"/>
                    </a:solidFill>
                  </a:tcPr>
                </a:tc>
              </a:tr>
            </a:tbl>
          </a:graphicData>
        </a:graphic>
      </p:graphicFrame>
      <p:sp>
        <p:nvSpPr>
          <p:cNvPr id="9" name="补充说明">
            <a:extLst xmlns:a="http://schemas.openxmlformats.org/drawingml/2006/main">
              <a:ext uri="{FF2B5EF4-FFF2-40B4-BE49-F238E27FC236}">
                <a16:creationId xmlns:a16="http://schemas.microsoft.com/office/drawing/2014/main" id="{F5B9013B-3A9F-486E-B315-45504835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5676900"/>
            <a:ext cx="10572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补充说明：填写相关约束、依赖条件或更新日期</a:t>
            </a:r>
          </a:p>
        </p:txBody>
      </p:sp>
    </p:spTree>
    <p:extLst>
      <p:ext uri="{BB962C8B-B14F-4D97-AF65-F5344CB8AC3E}">
        <p14:creationId xmlns:p14="http://schemas.microsoft.com/office/powerpoint/2010/main" val="1951112927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组织名称">
            <a:extLst xmlns:a="http://schemas.openxmlformats.org/drawingml/2006/main">
              <a:ext uri="{FF2B5EF4-FFF2-40B4-BE49-F238E27FC236}">
                <a16:creationId xmlns:a16="http://schemas.microsoft.com/office/drawing/2014/main" id="{B1E213CC-98F0-43A6-8535-BC42EF8F5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8125"/>
            <a:ext cx="2857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组织名称</a:t>
            </a:r>
          </a:p>
        </p:txBody>
      </p:sp>
      <p:sp>
        <p:nvSpPr>
          <p:cNvPr id="2" name="页码">
            <a:extLst xmlns:a="http://schemas.openxmlformats.org/drawingml/2006/main">
              <a:ext uri="{FF2B5EF4-FFF2-40B4-BE49-F238E27FC236}">
                <a16:creationId xmlns:a16="http://schemas.microsoft.com/office/drawing/2014/main" id="{1CF20970-B9C5-4364-8A02-6CC554910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238125"/>
            <a:ext cx="10001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07 / 08</a:t>
            </a:r>
          </a:p>
        </p:txBody>
      </p:sp>
      <p:sp>
        <p:nvSpPr>
          <p:cNvPr id="3" name="页面标题">
            <a:extLst xmlns:a="http://schemas.openxmlformats.org/drawingml/2006/main">
              <a:ext uri="{FF2B5EF4-FFF2-40B4-BE49-F238E27FC236}">
                <a16:creationId xmlns:a16="http://schemas.microsoft.com/office/drawing/2014/main" id="{95C8E7FE-3DD0-43AD-BC30-B6A1FE5605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19150"/>
            <a:ext cx="109347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业务场景与案例</a:t>
            </a:r>
          </a:p>
        </p:txBody>
      </p:sp>
      <p:sp>
        <p:nvSpPr>
          <p:cNvPr id="4" name="分隔线">
            <a:extLst xmlns:a="http://schemas.openxmlformats.org/drawingml/2006/main">
              <a:ext uri="{FF2B5EF4-FFF2-40B4-BE49-F238E27FC236}">
                <a16:creationId xmlns:a16="http://schemas.microsoft.com/office/drawing/2014/main" id="{42D9CB76-C17F-4D3C-A9F3-AA3B99A62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85925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7BC1"/>
          </a:solidFill>
          <a:ln xmlns:a="http://schemas.openxmlformats.org/drawingml/2006/main" w="0">
            <a:noFill/>
          </a:ln>
        </p:spPr>
      </p:sp>
      <p:sp>
        <p:nvSpPr>
          <p:cNvPr id="5" name="模板说明">
            <a:extLst xmlns:a="http://schemas.openxmlformats.org/drawingml/2006/main">
              <a:ext uri="{FF2B5EF4-FFF2-40B4-BE49-F238E27FC236}">
                <a16:creationId xmlns:a16="http://schemas.microsoft.com/office/drawing/2014/main" id="{7D368172-E241-42CE-89DD-D8A5DD4F4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10325"/>
            <a:ext cx="6381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模板示例 · 请替换内容</a:t>
            </a:r>
          </a:p>
        </p:txBody>
      </p:sp>
      <p:sp>
        <p:nvSpPr>
          <p:cNvPr id="6" name="页面类型">
            <a:extLst xmlns:a="http://schemas.openxmlformats.org/drawingml/2006/main">
              <a:ext uri="{FF2B5EF4-FFF2-40B4-BE49-F238E27FC236}">
                <a16:creationId xmlns:a16="http://schemas.microsoft.com/office/drawing/2014/main" id="{37959649-F158-49B0-8913-6E2E781C1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0700" y="64103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图文内容页</a:t>
            </a:r>
          </a:p>
        </p:txBody>
      </p:sp>
      <p:sp>
        <p:nvSpPr>
          <p:cNvPr id="7" name="可替换图片_横向">
            <a:extLst xmlns:a="http://schemas.openxmlformats.org/drawingml/2006/main">
              <a:ext uri="{FF2B5EF4-FFF2-40B4-BE49-F238E27FC236}">
                <a16:creationId xmlns:a16="http://schemas.microsoft.com/office/drawing/2014/main" id="{ED8A8608-7108-40F5-86AC-CF755A45C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19325"/>
            <a:ext cx="6553200" cy="3686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3F8"/>
          </a:solidFill>
          <a:ln xmlns:a="http://schemas.openxmlformats.org/drawingml/2006/main" w="9525">
            <a:solidFill>
              <a:srgbClr val="657588"/>
            </a:solidFill>
            <a:prstDash val="dash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图片占位</a:t>
            </a:r>
          </a:p>
          <a:p xmlns:a="http://schemas.openxmlformats.org/drawingml/2006/main">
            <a:pPr algn="ctr">
              <a:def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>
                <a:solidFill>
                  <a:srgbClr val="657588"/>
                </a:solidFill>
                <a:latin typeface="Microsoft YaHei"/>
                <a:ea typeface="Microsoft YaHei"/>
                <a:cs typeface="Microsoft YaHei"/>
              </a:rPr>
              <a:t>业务现场 / 案例图片</a:t>
            </a:r>
          </a:p>
        </p:txBody>
      </p:sp>
      <p:sp>
        <p:nvSpPr>
          <p:cNvPr id="8" name="图文小标题">
            <a:extLst xmlns:a="http://schemas.openxmlformats.org/drawingml/2006/main">
              <a:ext uri="{FF2B5EF4-FFF2-40B4-BE49-F238E27FC236}">
                <a16:creationId xmlns:a16="http://schemas.microsoft.com/office/drawing/2014/main" id="{6235E003-0112-4CE1-8651-CFC1BB4EAA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00975" y="2209800"/>
            <a:ext cx="3686175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325" b="1">
                <a:solidFill>
                  <a:srgbClr val="287BC1"/>
                </a:solidFill>
                <a:latin typeface="Microsoft YaHei"/>
                <a:ea typeface="Microsoft YaHei"/>
                <a:cs typeface="Microsoft YaHei"/>
              </a:rPr>
              <a:t>案例 / 场景名称</a:t>
            </a:r>
          </a:p>
        </p:txBody>
      </p:sp>
      <p:sp>
        <p:nvSpPr>
          <p:cNvPr id="9" name="场景描述">
            <a:extLst xmlns:a="http://schemas.openxmlformats.org/drawingml/2006/main">
              <a:ext uri="{FF2B5EF4-FFF2-40B4-BE49-F238E27FC236}">
                <a16:creationId xmlns:a16="http://schemas.microsoft.com/office/drawing/2014/main" id="{0AA70CE3-2E9E-431F-B1A7-4C31781ED6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086100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填写图片对应的背景、对象与关键过程</a:t>
            </a:r>
          </a:p>
        </p:txBody>
      </p:sp>
      <p:sp>
        <p:nvSpPr>
          <p:cNvPr id="10" name="场景价值">
            <a:extLst xmlns:a="http://schemas.openxmlformats.org/drawingml/2006/main">
              <a:ext uri="{FF2B5EF4-FFF2-40B4-BE49-F238E27FC236}">
                <a16:creationId xmlns:a16="http://schemas.microsoft.com/office/drawing/2014/main" id="{20C18848-DAAE-43A4-87D6-431B4DE6B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486275"/>
            <a:ext cx="3657600" cy="1057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0">
                <a:solidFill>
                  <a:srgbClr val="142C49"/>
                </a:solidFill>
                <a:latin typeface="Microsoft YaHei"/>
                <a:ea typeface="Microsoft YaHei"/>
                <a:cs typeface="Microsoft YaHei"/>
              </a:rPr>
              <a:t>填写成果、价值或需要强调的细节</a:t>
            </a:r>
          </a:p>
        </p:txBody>
      </p:sp>
    </p:spTree>
    <p:extLst>
      <p:ext uri="{BB962C8B-B14F-4D97-AF65-F5344CB8AC3E}">
        <p14:creationId xmlns:p14="http://schemas.microsoft.com/office/powerpoint/2010/main" val="33043218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142C4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结束标题">
            <a:extLst xmlns:a="http://schemas.openxmlformats.org/drawingml/2006/main">
              <a:ext uri="{FF2B5EF4-FFF2-40B4-BE49-F238E27FC236}">
                <a16:creationId xmlns:a16="http://schemas.microsoft.com/office/drawing/2014/main" id="{D6A0A061-F511-43BA-BB3A-7ED600C85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571625"/>
            <a:ext cx="108013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下一阶段重点</a:t>
            </a:r>
          </a:p>
        </p:txBody>
      </p:sp>
      <p:sp>
        <p:nvSpPr>
          <p:cNvPr id="2" name="结束摘要">
            <a:extLst xmlns:a="http://schemas.openxmlformats.org/drawingml/2006/main">
              <a:ext uri="{FF2B5EF4-FFF2-40B4-BE49-F238E27FC236}">
                <a16:creationId xmlns:a16="http://schemas.microsoft.com/office/drawing/2014/main" id="{599D9DBB-8E85-49C4-826F-FF5A13616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67050"/>
            <a:ext cx="106299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重点目标 · 关键行动 · 所需支持</a:t>
            </a:r>
          </a:p>
        </p:txBody>
      </p:sp>
      <p:sp>
        <p:nvSpPr>
          <p:cNvPr id="3" name="下一步说明">
            <a:extLst xmlns:a="http://schemas.openxmlformats.org/drawingml/2006/main">
              <a:ext uri="{FF2B5EF4-FFF2-40B4-BE49-F238E27FC236}">
                <a16:creationId xmlns:a16="http://schemas.microsoft.com/office/drawing/2014/main" id="{8265E46D-E735-449A-B836-477C886D8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171950"/>
            <a:ext cx="10477500" cy="581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填写最重要的下一步安排</a:t>
            </a:r>
          </a:p>
        </p:txBody>
      </p:sp>
      <p:sp>
        <p:nvSpPr>
          <p:cNvPr id="4" name="联系信息">
            <a:extLst xmlns:a="http://schemas.openxmlformats.org/drawingml/2006/main">
              <a:ext uri="{FF2B5EF4-FFF2-40B4-BE49-F238E27FC236}">
                <a16:creationId xmlns:a16="http://schemas.microsoft.com/office/drawing/2014/main" id="{329B0518-2F36-4D57-985B-60B16043B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924550"/>
            <a:ext cx="10382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Autofit/>
          </a:bodyPr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联系人 / 部门 / 联系方式</a:t>
            </a:r>
          </a:p>
        </p:txBody>
      </p:sp>
    </p:spTree>
    <p:extLst>
      <p:ext uri="{BB962C8B-B14F-4D97-AF65-F5344CB8AC3E}">
        <p14:creationId xmlns:p14="http://schemas.microsoft.com/office/powerpoint/2010/main" val="20655148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2026-09-09T09:58:31.3850000Z</dcterms:created>
  <dcterms:modified xsi:type="dcterms:W3CDTF">2026-09-09T09:58:31.3850000Z</dcterms:modified>
</coreProperties>
</file>